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TechLink Solutions, 3-site Egyptian branch network. Designed in Cisco Packet Tracer and automated with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sites, 6 WAN links (4 primary + 4 backup = actually 4 links total per design), 6 VLANs, full connectivity verified in 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Hub-and-Spoke with HQ Cairo as central aggregation point. Red serial lines = WAN. Black dashed = GE uplinks to MLS. Redundant serial links for each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WAN /30 networks conserve address space — only 2 usable IPs needed per point-to-point link. Each site has its own /24 block per VLAN for easy route summarisation.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routes have AD=10 — higher than static default of 1, so they lose to the primary but win if primary is gone. This creates automatic failover without any dynamic routing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script is intentionally simple — no netmiko or SSH needed because Packet Tracer doesn't support SSH automation. Python reads JSON state and outputs the logic. In production, you'd connect this to a real device via netmiko.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Cross-site ping from PC2 (Giza) to PC5 (Alexandria). Traffic travels: PC2 → MLS-GIZA → GIZA router → HQ-CAIRO → ALEX router → MLS-ALEX → PC5. 4 packets, 0 loss, proves full routing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vodafone_logo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C8102E">
              <a:alpha val="90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9B0E24">
              <a:alpha val="70000"/>
            </a:srgbClr>
          </a:solidFill>
          <a:ln w="12700">
            <a:solidFill>
              <a:srgbClr val="9B0E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6576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630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4630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4630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4630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146304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603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03120" y="25603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25603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25603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256032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03120" y="36576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36576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36576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3657600"/>
            <a:ext cx="45720" cy="4572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201168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011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VODAFONE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960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TechLink Solutions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50292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Multi-Branch Network Design  &amp;  Python Automation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2920" y="2377440"/>
            <a:ext cx="2011680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2578608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5786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  Cairo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0" y="2578608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9B0E24"/>
          </a:solidFill>
          <a:ln w="12700">
            <a:solidFill>
              <a:srgbClr val="9B0E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5786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1  Alex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2578608"/>
            <a:ext cx="2011680" cy="402336"/>
          </a:xfrm>
          <a:prstGeom prst="roundRect">
            <a:avLst>
              <a:gd name="adj" fmla="val 27273"/>
            </a:avLst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5786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2  Giza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114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Magdy Shawky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Mohamed-Roushdy, Vodafone  |  June 25, 2026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44348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161616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4434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Packet Tracer</a:t>
            </a:r>
            <a:endParaRPr lang="en-US" sz="800" dirty="0"/>
          </a:p>
        </p:txBody>
      </p:sp>
      <p:pic>
        <p:nvPicPr>
          <p:cNvPr id="40" name="Vodafone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600" y="183096"/>
            <a:ext cx="384048" cy="384048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TechLink Solutions  |  Multi-Branch Egyptian Network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DDE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024128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FF0F2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789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0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50592" y="17190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Links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 + 4B)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024128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E0F7F7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0789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26864" y="17190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 per site)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1024128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0789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03136" y="17190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4114800" cy="2359152"/>
          </a:xfrm>
          <a:prstGeom prst="roundRect">
            <a:avLst>
              <a:gd name="adj" fmla="val 3876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542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926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multi-branch company network for TechLink Solutions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dual WAN redundancy (Primary + Backup) per branch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traffic with VLAN 10 (Management) and VLAN 20 (Users)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failure detection and rerouting with Python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full inter-site connectivity in Cisco Packet Tracer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4114800" cy="2359152"/>
          </a:xfrm>
          <a:prstGeom prst="roundRect">
            <a:avLst>
              <a:gd name="adj" fmla="val 3876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5420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2999232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Packet Tracer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2944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simulation &amp; testing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3383280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3284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0" y="33284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scripting engine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92040" y="3767328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7124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37124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Link-state configuration store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4151376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4096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Routing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40965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floating backup routes (AD=10)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4535424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Multilayer Switches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83680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Inter-VLAN routing (L3 SVIs)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Topology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Hub-and-Spoke  |  3 Sites  |  Dual WAN Redundancy per Branch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603504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00584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01968" y="1078992"/>
            <a:ext cx="457200" cy="4572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1968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0" y="1060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HQ-CAIRO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32320" y="133502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router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0/2/0 &amp; 0/2/1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10.0.0.1 / .5 / .9 / .13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205740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1968" y="2130552"/>
            <a:ext cx="457200" cy="457200"/>
          </a:xfrm>
          <a:prstGeom prst="ellipse">
            <a:avLst/>
          </a:prstGeom>
          <a:solidFill>
            <a:srgbClr val="9B0E24"/>
          </a:solidFill>
          <a:ln w="12700">
            <a:solidFill>
              <a:srgbClr val="9B0E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01968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32320" y="2112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Branch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0" y="23865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 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0/1/0 &amp; 0/1/1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10.0.0.2 / 10.0.0.6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310896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01968" y="3182112"/>
            <a:ext cx="457200" cy="457200"/>
          </a:xfrm>
          <a:prstGeom prst="ellipse">
            <a:avLst/>
          </a:prstGeom>
          <a:solidFill>
            <a:srgbClr val="6B0F1A"/>
          </a:solidFill>
          <a:ln w="12700">
            <a:solidFill>
              <a:srgbClr val="6B0F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01968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32320" y="31638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GIZA Branch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32320" y="34381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 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0/1/0 &amp; 0/1/1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10.0.0.10 / 10.0.0.14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537960" y="4160520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01968" y="4233672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01968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32320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MLS Switches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132320" y="448970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3650-24PS per site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 + VLAN 20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inter-VLAN routing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Addressing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Serial /30 Links  +  LAN /24 VLANs  |  RFC 1918 Private Space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 Links (Serial /30)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777240"/>
                <a:gridCol w="7772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 IP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IP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HQ↔ALEX Primary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10.0.0.0/30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HQ↔ALEX Backup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10.0.0.4/30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HQ↔GIZA Primary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10.0.0.8/30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HQ↔GIZA Backup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10.0.0.12/30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10.0.0.14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Networks (/24)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98448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"/>
                <a:gridCol w="1188720"/>
                <a:gridCol w="14630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192.168.30.0/24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192.168.40.0/24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192.168.50.0/24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192.168.60.0/24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Giza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192.168.10.0/24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Giza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192.168.20.0/24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54787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Device Interfaces</a:t>
            </a:r>
            <a:endParaRPr lang="en-US" sz="12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58768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463040"/>
                <a:gridCol w="219456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 Address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Cairo HQ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HQ-CAIRO Router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Gi0/0/0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192.168.100.1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255.255.255.252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Cairo HQ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MLS-CAIRO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VLAN 10 SVI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192.168.30.1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255.255.255.0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 Router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Gi0/0/0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192.168.101.1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255.255.255.252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Giza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GIZA Router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Gi0/0/0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192.168.102.1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255.255.255.252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Routing  +  Floating Backup Routes  |  AD = 10 for Backup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834640" cy="1874520"/>
          </a:xfrm>
          <a:prstGeom prst="roundRect">
            <a:avLst>
              <a:gd name="adj" fmla="val 5854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69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Static Routing?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60604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3-site topology – no dynamic changes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CPU overhead vs OSPF/EIGRP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audit and troubleshoot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admin control of paths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via floating AD=10 routes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834640" cy="1874520"/>
          </a:xfrm>
          <a:prstGeom prst="roundRect">
            <a:avLst>
              <a:gd name="adj" fmla="val 5854"/>
            </a:avLst>
          </a:prstGeom>
          <a:solidFill>
            <a:srgbClr val="FFF0F2"/>
          </a:solidFill>
          <a:ln w="1016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10698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Route Logic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1568" y="1463040"/>
            <a:ext cx="260604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route</a:t>
            </a:r>
            <a:endParaRPr lang="en-US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X.X.X.0 ... 10.0.0.X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route (AD = 10)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X.X.X.0 ... 10.0.0.X 10
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installs ONLY when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is removed from table.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number wins → AD 1 primary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10 backup (higher = less preferred).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560320" cy="1874520"/>
          </a:xfrm>
          <a:prstGeom prst="roundRect">
            <a:avLst>
              <a:gd name="adj" fmla="val 5854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0698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Distance (AD)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1481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36992" y="149961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14996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46520" y="17556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36992" y="177393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177393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46520" y="202996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backup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36992" y="204825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20482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46520" y="2304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OSPF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36992" y="232257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36992" y="23225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46520" y="2578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36992" y="2596896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36992" y="25968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" y="3035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Configuration Summary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37560"/>
          <a:ext cx="8595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377440"/>
                <a:gridCol w="21031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Hop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HQ-CAIRO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192.168.10.0/24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10.0.0.10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HQ-CAIRO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9B0E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192.168.10.0/24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9B0E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10.0.0.14 AD=10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HQ-CAIRO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192.168.50.0/24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10.0.0.2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HQ-CAIRO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9B0E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192.168.50.0/24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9B0E2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10.0.0.6 AD=10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9B0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non-local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10.0.0.1 / 10.0.0.5 AD=10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Primary/Backup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GIZA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 non-local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10.0.0.9 / 10.0.0.13 AD=10</a:t>
                      </a:r>
                      <a:endParaRPr lang="en-US" sz="82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Primary/Backup</a:t>
                      </a:r>
                      <a:endParaRPr lang="en-US" sz="8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Automation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network_automation.py  +  network_status.json  |  Automatic Failover Logic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120640" cy="3858768"/>
          </a:xfrm>
          <a:prstGeom prst="roundRect">
            <a:avLst>
              <a:gd name="adj" fmla="val 2370"/>
            </a:avLst>
          </a:prstGeom>
          <a:solidFill>
            <a:srgbClr val="0F0F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60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network_automation.py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import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json, time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from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datetime </a:t>
            </a:r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import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with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open("network_status.json") as f: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network = </a:t>
            </a:r>
            <a:pPr indent="0" marL="0">
              <a:buNone/>
            </a:pPr>
            <a:r>
              <a:rPr lang="en-US" sz="820" dirty="0">
                <a:solidFill>
                  <a:srgbClr val="79B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.load(f)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for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site, data </a:t>
            </a:r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network.items():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primary = data["primary_link"]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backup  = data["backup_link"]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primary == </a:t>
            </a:r>
            <a:pPr indent="0" marL="0">
              <a:buNone/>
            </a:pPr>
            <a:r>
              <a:rPr lang="en-US" sz="8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"UP":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route = </a:t>
            </a:r>
            <a:pPr indent="0" marL="0">
              <a:buNone/>
            </a:pPr>
            <a:r>
              <a:rPr lang="en-US" sz="8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"PRIMARY"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else: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backup == </a:t>
            </a:r>
            <a:pPr indent="0" marL="0">
              <a:buNone/>
            </a:pPr>
            <a:r>
              <a:rPr lang="en-US" sz="8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"UP":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write_log("Activating Backup...")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route = </a:t>
            </a:r>
            <a:pPr indent="0" marL="0">
              <a:buNone/>
            </a:pPr>
            <a:r>
              <a:rPr lang="en-US" sz="8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"BACKUP"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C99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else:
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route = </a:t>
            </a:r>
            <a:pPr indent="0" marL="0">
              <a:buNone/>
            </a:pPr>
            <a:r>
              <a:rPr lang="en-US" sz="820" dirty="0">
                <a:solidFill>
                  <a:srgbClr val="9B0E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"DOWN"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5715000" y="1005840"/>
            <a:ext cx="3154680" cy="1170432"/>
          </a:xfrm>
          <a:prstGeom prst="roundRect">
            <a:avLst>
              <a:gd name="adj" fmla="val 7813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1115568"/>
            <a:ext cx="493776" cy="49377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1155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097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JSON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network_status.json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primary &amp; backup state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site (UP / DOWN)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15000" y="2304288"/>
            <a:ext cx="3154680" cy="1170432"/>
          </a:xfrm>
          <a:prstGeom prst="roundRect">
            <a:avLst>
              <a:gd name="adj" fmla="val 7813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06440" y="2414016"/>
            <a:ext cx="493776" cy="49377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4140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3957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Links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7157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UP → route PRIMARY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DOWN + Backup 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Activate backup route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15000" y="3602736"/>
            <a:ext cx="3154680" cy="1170432"/>
          </a:xfrm>
          <a:prstGeom prst="roundRect">
            <a:avLst>
              <a:gd name="adj" fmla="val 7813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06440" y="3712464"/>
            <a:ext cx="493776" cy="49377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712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36941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&amp; Log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0142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ip route commands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timestamped log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FINAL SUMMARY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Connectivity Proof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D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Packet Tracer Test  |  4/4 Packets  |  0% Loss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87552"/>
            <a:ext cx="530352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3434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PC2 (Giza 192.168.20.10)  →  PC5 (Alexandria 192.168.50.10)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989320" y="1005840"/>
            <a:ext cx="2880360" cy="859536"/>
          </a:xfrm>
          <a:prstGeom prst="roundRect">
            <a:avLst>
              <a:gd name="adj" fmla="val 10638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04241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080760" y="1554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Sent / Received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7406640" y="120700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0" y="1207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09560" y="128016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2011680"/>
            <a:ext cx="2880360" cy="859536"/>
          </a:xfrm>
          <a:prstGeom prst="roundRect">
            <a:avLst>
              <a:gd name="adj" fmla="val 10638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204825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08076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Loss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406640" y="221284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09560" y="22860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89320" y="3017520"/>
            <a:ext cx="2880360" cy="859536"/>
          </a:xfrm>
          <a:prstGeom prst="roundRect">
            <a:avLst>
              <a:gd name="adj" fmla="val 10638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080760" y="305409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5ms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6080760" y="3566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RTT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406640" y="3218688"/>
            <a:ext cx="438912" cy="43891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0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909560" y="32918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89320" y="4023360"/>
            <a:ext cx="2880360" cy="859536"/>
          </a:xfrm>
          <a:prstGeom prst="roundRect">
            <a:avLst>
              <a:gd name="adj" fmla="val 10638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80760" y="405993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6080760" y="45720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Reachable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406640" y="4224528"/>
            <a:ext cx="438912" cy="43891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0664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909560" y="42976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89320" y="4206240"/>
            <a:ext cx="2880360" cy="640080"/>
          </a:xfrm>
          <a:prstGeom prst="roundRect">
            <a:avLst>
              <a:gd name="adj" fmla="val 14286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89320" y="42062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Omar Magdy Shawky
</a:t>
            </a:r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Mohamed-Roushdy, Vodafone  |  June 25,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Vodafone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TechLink Solutions – Multi-Branch Network Design</dc:title>
  <dc:subject>PptxGenJS Presentation</dc:subject>
  <dc:creator>Omar Magdy Shawky</dc:creator>
  <cp:lastModifiedBy>Omar Magdy Shawky</cp:lastModifiedBy>
  <cp:revision>1</cp:revision>
  <dcterms:created xsi:type="dcterms:W3CDTF">2026-06-24T21:30:46Z</dcterms:created>
  <dcterms:modified xsi:type="dcterms:W3CDTF">2026-06-24T21:30:46Z</dcterms:modified>
</cp:coreProperties>
</file>